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7" r:id="rId11"/>
    <p:sldId id="349" r:id="rId12"/>
    <p:sldId id="348" r:id="rId13"/>
    <p:sldId id="340" r:id="rId14"/>
    <p:sldId id="344" r:id="rId15"/>
    <p:sldId id="345" r:id="rId16"/>
    <p:sldId id="346"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1" d="100"/>
          <a:sy n="71" d="100"/>
        </p:scale>
        <p:origin x="84" y="94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Ayush-0021/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0" y="3588198"/>
            <a:ext cx="4356925" cy="861497"/>
          </a:xfrm>
        </p:spPr>
        <p:txBody>
          <a:bodyPr vert="horz" lIns="91440" tIns="45720" rIns="91440" bIns="45720" rtlCol="0" anchor="t">
            <a:normAutofit/>
          </a:bodyPr>
          <a:lstStyle/>
          <a:p>
            <a:pPr algn="r"/>
            <a:r>
              <a:rPr lang="en-US" b="0" dirty="0">
                <a:solidFill>
                  <a:schemeClr val="tx1"/>
                </a:solidFill>
              </a:rPr>
              <a:t>Ayush Kumar</a:t>
            </a:r>
          </a:p>
          <a:p>
            <a:pPr algn="r"/>
            <a:r>
              <a:rPr lang="en-US" b="0" dirty="0">
                <a:solidFill>
                  <a:schemeClr val="tx1"/>
                </a:solidFill>
              </a:rPr>
              <a:t>Indian Institute of Technology Patna</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36311" y="2536952"/>
            <a:ext cx="7077289" cy="924472"/>
          </a:xfrm>
        </p:spPr>
        <p:txBody>
          <a:bodyPr>
            <a:normAutofit fontScale="90000"/>
          </a:bodyPr>
          <a:lstStyle/>
          <a:p>
            <a:r>
              <a:rPr lang="en-IN" sz="3200" dirty="0"/>
              <a:t>Seasonal Agriculture Performance </a:t>
            </a:r>
            <a:br>
              <a:rPr lang="en-IN" sz="3200" dirty="0"/>
            </a:br>
            <a:r>
              <a:rPr lang="en-IN" sz="3200" dirty="0"/>
              <a:t>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422794"/>
            <a:ext cx="4356925" cy="646331"/>
          </a:xfrm>
          <a:prstGeom prst="rect">
            <a:avLst/>
          </a:prstGeom>
          <a:noFill/>
        </p:spPr>
        <p:txBody>
          <a:bodyPr wrap="square" rtlCol="0">
            <a:spAutoFit/>
          </a:bodyPr>
          <a:lstStyle/>
          <a:p>
            <a:r>
              <a:rPr lang="en-US" b="1" dirty="0"/>
              <a:t>AICTE STU ID : </a:t>
            </a:r>
            <a:r>
              <a:rPr lang="en-IN" b="1" dirty="0"/>
              <a:t>STU6a644077872ca1784954999</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102230"/>
            <a:ext cx="6431280" cy="3607987"/>
          </a:xfrm>
        </p:spPr>
        <p:txBody>
          <a:bodyPr vert="horz" lIns="91440" tIns="45720" rIns="91440" bIns="45720" rtlCol="0" anchor="t">
            <a:normAutofit fontScale="70000" lnSpcReduction="20000"/>
          </a:bodyPr>
          <a:lstStyle/>
          <a:p>
            <a:pPr marL="0" indent="0" algn="just">
              <a:lnSpc>
                <a:spcPct val="100000"/>
              </a:lnSpc>
              <a:buNone/>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F58023B1-9E91-9DEC-DD68-C6C93E79E79B}"/>
              </a:ext>
            </a:extLst>
          </p:cNvPr>
          <p:cNvSpPr txBox="1"/>
          <p:nvPr/>
        </p:nvSpPr>
        <p:spPr>
          <a:xfrm>
            <a:off x="660398" y="1697669"/>
            <a:ext cx="6025073" cy="2862322"/>
          </a:xfrm>
          <a:prstGeom prst="rect">
            <a:avLst/>
          </a:prstGeom>
          <a:noFill/>
        </p:spPr>
        <p:txBody>
          <a:bodyPr wrap="square" rtlCol="0">
            <a:spAutoFit/>
          </a:bodyPr>
          <a:lstStyle/>
          <a:p>
            <a:r>
              <a:rPr lang="en-IN" dirty="0"/>
              <a:t>This project </a:t>
            </a:r>
            <a:r>
              <a:rPr lang="en-IN" dirty="0" err="1"/>
              <a:t>analyzes</a:t>
            </a:r>
            <a:r>
              <a:rPr lang="en-IN" dirty="0"/>
              <a:t> agricultural data across different seasons, regions, crops and farming conditions. The analysis includes data cleaning, exploratory data analysis, seasonal comparisons, crop and irrigation analysis, profitability analysis, water efficiency and correlation analysis.</a:t>
            </a:r>
          </a:p>
          <a:p>
            <a:r>
              <a:rPr lang="en-IN" dirty="0"/>
              <a:t>The main aim is to identify useful patterns and insights that can support better understanding of seasonal agricultural performance.</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7" y="1659283"/>
            <a:ext cx="6626181" cy="2938596"/>
          </a:xfrm>
        </p:spPr>
        <p:txBody>
          <a:bodyPr>
            <a:normAutofit/>
          </a:bodyPr>
          <a:lstStyle/>
          <a:p>
            <a:pPr lvl="0"/>
            <a:r>
              <a:rPr lang="en-IN" sz="2800" dirty="0"/>
              <a:t>Farmers </a:t>
            </a:r>
          </a:p>
          <a:p>
            <a:pPr lvl="0"/>
            <a:r>
              <a:rPr lang="en-IN" sz="2800" dirty="0"/>
              <a:t>Agricultural planners </a:t>
            </a:r>
          </a:p>
          <a:p>
            <a:pPr lvl="0"/>
            <a:r>
              <a:rPr lang="en-IN" sz="2800" dirty="0"/>
              <a:t>Government agricultural departments </a:t>
            </a:r>
          </a:p>
          <a:p>
            <a:pPr lvl="0"/>
            <a:r>
              <a:rPr lang="en-IN" sz="2800" dirty="0"/>
              <a:t>Agricultural researchers </a:t>
            </a:r>
          </a:p>
          <a:p>
            <a:pPr lvl="0"/>
            <a:r>
              <a:rPr lang="en-IN" sz="2800" dirty="0"/>
              <a:t>Data analysts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7" name="TextBox 6">
            <a:extLst>
              <a:ext uri="{FF2B5EF4-FFF2-40B4-BE49-F238E27FC236}">
                <a16:creationId xmlns:a16="http://schemas.microsoft.com/office/drawing/2014/main" id="{07E3A4CF-ADB4-5CAF-00CF-FC63C49E5702}"/>
              </a:ext>
            </a:extLst>
          </p:cNvPr>
          <p:cNvSpPr txBox="1"/>
          <p:nvPr/>
        </p:nvSpPr>
        <p:spPr>
          <a:xfrm>
            <a:off x="620007" y="4937107"/>
            <a:ext cx="8670641" cy="523220"/>
          </a:xfrm>
          <a:prstGeom prst="rect">
            <a:avLst/>
          </a:prstGeom>
          <a:noFill/>
        </p:spPr>
        <p:txBody>
          <a:bodyPr wrap="square">
            <a:spAutoFit/>
          </a:bodyPr>
          <a:lstStyle/>
          <a:p>
            <a:r>
              <a:rPr lang="en-IN" sz="1400" dirty="0"/>
              <a:t>The analysis can help users compare seasonal performance and identify areas that may require further investigation.</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27200" y="1199648"/>
            <a:ext cx="6373004" cy="5506905"/>
          </a:xfrm>
        </p:spPr>
        <p:txBody>
          <a:bodyPr>
            <a:normAutofit/>
          </a:bodyPr>
          <a:lstStyle/>
          <a:p>
            <a:pPr marL="0" indent="0">
              <a:buNone/>
            </a:pPr>
            <a:r>
              <a:rPr lang="en-IN" sz="1800" b="1" dirty="0"/>
              <a:t>Programming Language</a:t>
            </a:r>
            <a:endParaRPr lang="en-IN" sz="1800" dirty="0"/>
          </a:p>
          <a:p>
            <a:pPr lvl="0"/>
            <a:r>
              <a:rPr lang="en-IN" sz="1800" dirty="0"/>
              <a:t>Python </a:t>
            </a:r>
          </a:p>
          <a:p>
            <a:pPr marL="0" indent="0">
              <a:buNone/>
            </a:pPr>
            <a:r>
              <a:rPr lang="en-IN" sz="1800" b="1" dirty="0"/>
              <a:t>Libraries</a:t>
            </a:r>
            <a:endParaRPr lang="en-IN" sz="1800" dirty="0"/>
          </a:p>
          <a:p>
            <a:pPr lvl="0"/>
            <a:r>
              <a:rPr lang="en-IN" sz="1800" dirty="0"/>
              <a:t>Pandas </a:t>
            </a:r>
          </a:p>
          <a:p>
            <a:pPr lvl="0"/>
            <a:r>
              <a:rPr lang="en-IN" sz="1800" dirty="0"/>
              <a:t>NumPy </a:t>
            </a:r>
          </a:p>
          <a:p>
            <a:pPr lvl="0"/>
            <a:r>
              <a:rPr lang="en-IN" sz="1800" dirty="0"/>
              <a:t>Matplotlib </a:t>
            </a:r>
          </a:p>
          <a:p>
            <a:pPr lvl="0"/>
            <a:r>
              <a:rPr lang="en-IN" sz="1800" dirty="0"/>
              <a:t>Seaborn </a:t>
            </a:r>
          </a:p>
          <a:p>
            <a:pPr marL="0" indent="0">
              <a:buNone/>
            </a:pPr>
            <a:r>
              <a:rPr lang="en-IN" sz="1800" b="1" dirty="0"/>
              <a:t>Environment</a:t>
            </a:r>
            <a:endParaRPr lang="en-IN" sz="1800" dirty="0"/>
          </a:p>
          <a:p>
            <a:pPr lvl="0"/>
            <a:r>
              <a:rPr lang="en-IN" sz="1800" dirty="0"/>
              <a:t>Jupyter Notebook</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314039" y="1246198"/>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2000" dirty="0"/>
              <a:t>Seasonal Yield Analysis</a:t>
            </a:r>
            <a:endParaRPr lang="en-GB" sz="2000" dirty="0"/>
          </a:p>
        </p:txBody>
      </p:sp>
      <p:pic>
        <p:nvPicPr>
          <p:cNvPr id="9" name="Picture 8">
            <a:extLst>
              <a:ext uri="{FF2B5EF4-FFF2-40B4-BE49-F238E27FC236}">
                <a16:creationId xmlns:a16="http://schemas.microsoft.com/office/drawing/2014/main" id="{89757CBD-E7BA-EC3F-302C-981E83ED680B}"/>
              </a:ext>
            </a:extLst>
          </p:cNvPr>
          <p:cNvPicPr>
            <a:picLocks noChangeAspect="1"/>
          </p:cNvPicPr>
          <p:nvPr/>
        </p:nvPicPr>
        <p:blipFill>
          <a:blip r:embed="rId3"/>
          <a:stretch>
            <a:fillRect/>
          </a:stretch>
        </p:blipFill>
        <p:spPr>
          <a:xfrm>
            <a:off x="675956" y="1701387"/>
            <a:ext cx="5115243" cy="4770533"/>
          </a:xfrm>
          <a:prstGeom prst="rect">
            <a:avLst/>
          </a:prstGeom>
        </p:spPr>
      </p:pic>
      <p:graphicFrame>
        <p:nvGraphicFramePr>
          <p:cNvPr id="12" name="Table 11">
            <a:extLst>
              <a:ext uri="{FF2B5EF4-FFF2-40B4-BE49-F238E27FC236}">
                <a16:creationId xmlns:a16="http://schemas.microsoft.com/office/drawing/2014/main" id="{2D6A3A8C-C9B2-8ABE-0FB1-CA10B236320D}"/>
              </a:ext>
            </a:extLst>
          </p:cNvPr>
          <p:cNvGraphicFramePr>
            <a:graphicFrameLocks noGrp="1"/>
          </p:cNvGraphicFramePr>
          <p:nvPr>
            <p:extLst>
              <p:ext uri="{D42A27DB-BD31-4B8C-83A1-F6EECF244321}">
                <p14:modId xmlns:p14="http://schemas.microsoft.com/office/powerpoint/2010/main" val="2117911573"/>
              </p:ext>
            </p:extLst>
          </p:nvPr>
        </p:nvGraphicFramePr>
        <p:xfrm>
          <a:off x="6096000" y="1701387"/>
          <a:ext cx="3516186" cy="1737360"/>
        </p:xfrm>
        <a:graphic>
          <a:graphicData uri="http://schemas.openxmlformats.org/drawingml/2006/table">
            <a:tbl>
              <a:tblPr>
                <a:tableStyleId>{6E25E649-3F16-4E02-A733-19D2CDBF48F0}</a:tableStyleId>
              </a:tblPr>
              <a:tblGrid>
                <a:gridCol w="1758093">
                  <a:extLst>
                    <a:ext uri="{9D8B030D-6E8A-4147-A177-3AD203B41FA5}">
                      <a16:colId xmlns:a16="http://schemas.microsoft.com/office/drawing/2014/main" val="386402692"/>
                    </a:ext>
                  </a:extLst>
                </a:gridCol>
                <a:gridCol w="1758093">
                  <a:extLst>
                    <a:ext uri="{9D8B030D-6E8A-4147-A177-3AD203B41FA5}">
                      <a16:colId xmlns:a16="http://schemas.microsoft.com/office/drawing/2014/main" val="3132997059"/>
                    </a:ext>
                  </a:extLst>
                </a:gridCol>
              </a:tblGrid>
              <a:tr h="247194">
                <a:tc>
                  <a:txBody>
                    <a:bodyPr/>
                    <a:lstStyle/>
                    <a:p>
                      <a:pPr>
                        <a:buNone/>
                      </a:pPr>
                      <a:r>
                        <a:rPr lang="en-IN"/>
                        <a:t>Season</a:t>
                      </a:r>
                    </a:p>
                  </a:txBody>
                  <a:tcPr anchor="ctr"/>
                </a:tc>
                <a:tc>
                  <a:txBody>
                    <a:bodyPr/>
                    <a:lstStyle/>
                    <a:p>
                      <a:pPr algn="r">
                        <a:buNone/>
                      </a:pPr>
                      <a:r>
                        <a:rPr lang="en-IN"/>
                        <a:t>Average Yield (Tonnes/Ha)</a:t>
                      </a:r>
                    </a:p>
                  </a:txBody>
                  <a:tcPr anchor="ctr"/>
                </a:tc>
                <a:extLst>
                  <a:ext uri="{0D108BD9-81ED-4DB2-BD59-A6C34878D82A}">
                    <a16:rowId xmlns:a16="http://schemas.microsoft.com/office/drawing/2014/main" val="2258956948"/>
                  </a:ext>
                </a:extLst>
              </a:tr>
              <a:tr h="247194">
                <a:tc>
                  <a:txBody>
                    <a:bodyPr/>
                    <a:lstStyle/>
                    <a:p>
                      <a:pPr>
                        <a:buNone/>
                      </a:pPr>
                      <a:r>
                        <a:rPr lang="en-IN"/>
                        <a:t>Kharif</a:t>
                      </a:r>
                    </a:p>
                  </a:txBody>
                  <a:tcPr anchor="ctr"/>
                </a:tc>
                <a:tc>
                  <a:txBody>
                    <a:bodyPr/>
                    <a:lstStyle/>
                    <a:p>
                      <a:pPr algn="r">
                        <a:buNone/>
                      </a:pPr>
                      <a:r>
                        <a:rPr lang="en-IN"/>
                        <a:t>5.63</a:t>
                      </a:r>
                    </a:p>
                  </a:txBody>
                  <a:tcPr anchor="ctr"/>
                </a:tc>
                <a:extLst>
                  <a:ext uri="{0D108BD9-81ED-4DB2-BD59-A6C34878D82A}">
                    <a16:rowId xmlns:a16="http://schemas.microsoft.com/office/drawing/2014/main" val="203689622"/>
                  </a:ext>
                </a:extLst>
              </a:tr>
              <a:tr h="247194">
                <a:tc>
                  <a:txBody>
                    <a:bodyPr/>
                    <a:lstStyle/>
                    <a:p>
                      <a:pPr>
                        <a:buNone/>
                      </a:pPr>
                      <a:r>
                        <a:rPr lang="en-IN"/>
                        <a:t>Rabi</a:t>
                      </a:r>
                    </a:p>
                  </a:txBody>
                  <a:tcPr anchor="ctr"/>
                </a:tc>
                <a:tc>
                  <a:txBody>
                    <a:bodyPr/>
                    <a:lstStyle/>
                    <a:p>
                      <a:pPr algn="r">
                        <a:buNone/>
                      </a:pPr>
                      <a:r>
                        <a:rPr lang="en-IN"/>
                        <a:t>5.04</a:t>
                      </a:r>
                    </a:p>
                  </a:txBody>
                  <a:tcPr anchor="ctr"/>
                </a:tc>
                <a:extLst>
                  <a:ext uri="{0D108BD9-81ED-4DB2-BD59-A6C34878D82A}">
                    <a16:rowId xmlns:a16="http://schemas.microsoft.com/office/drawing/2014/main" val="257871408"/>
                  </a:ext>
                </a:extLst>
              </a:tr>
              <a:tr h="247194">
                <a:tc>
                  <a:txBody>
                    <a:bodyPr/>
                    <a:lstStyle/>
                    <a:p>
                      <a:pPr>
                        <a:buNone/>
                      </a:pPr>
                      <a:r>
                        <a:rPr lang="en-IN"/>
                        <a:t>Zaid</a:t>
                      </a:r>
                    </a:p>
                  </a:txBody>
                  <a:tcPr anchor="ctr"/>
                </a:tc>
                <a:tc>
                  <a:txBody>
                    <a:bodyPr/>
                    <a:lstStyle/>
                    <a:p>
                      <a:pPr algn="r">
                        <a:buNone/>
                      </a:pPr>
                      <a:r>
                        <a:rPr lang="en-IN" dirty="0"/>
                        <a:t>4.64</a:t>
                      </a:r>
                    </a:p>
                  </a:txBody>
                  <a:tcPr anchor="ctr"/>
                </a:tc>
                <a:extLst>
                  <a:ext uri="{0D108BD9-81ED-4DB2-BD59-A6C34878D82A}">
                    <a16:rowId xmlns:a16="http://schemas.microsoft.com/office/drawing/2014/main" val="818536143"/>
                  </a:ext>
                </a:extLst>
              </a:tr>
            </a:tbl>
          </a:graphicData>
        </a:graphic>
      </p:graphicFrame>
      <p:sp>
        <p:nvSpPr>
          <p:cNvPr id="13" name="TextBox 12">
            <a:extLst>
              <a:ext uri="{FF2B5EF4-FFF2-40B4-BE49-F238E27FC236}">
                <a16:creationId xmlns:a16="http://schemas.microsoft.com/office/drawing/2014/main" id="{50C25A0B-9035-A3A9-A394-784DD8DCEE83}"/>
              </a:ext>
            </a:extLst>
          </p:cNvPr>
          <p:cNvSpPr txBox="1"/>
          <p:nvPr/>
        </p:nvSpPr>
        <p:spPr>
          <a:xfrm>
            <a:off x="6096000" y="4056059"/>
            <a:ext cx="3516186" cy="1477328"/>
          </a:xfrm>
          <a:prstGeom prst="rect">
            <a:avLst/>
          </a:prstGeom>
          <a:noFill/>
        </p:spPr>
        <p:txBody>
          <a:bodyPr wrap="square" rtlCol="0">
            <a:spAutoFit/>
          </a:bodyPr>
          <a:lstStyle/>
          <a:p>
            <a:r>
              <a:rPr lang="en-IN" dirty="0"/>
              <a:t>Kharif recorded the highest average yield at 5.63 tonnes/ha, followed by Rabi at 5.04 and Zaid at 4.64 tonnes/ha.</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23678-BDEA-E5DC-1CBA-62D0E600458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E41BB5-667F-E433-5433-A142D25D45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B71F77D-DB61-1BA2-47F5-C3EC808ED99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500C797-F1AA-62B2-E294-4DED7164CCD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DF248E1-3665-162D-5525-6275C27D7F7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8CD2F38-B3E0-68F0-2BBE-BEC3842C0C22}"/>
              </a:ext>
            </a:extLst>
          </p:cNvPr>
          <p:cNvSpPr>
            <a:spLocks noGrp="1"/>
          </p:cNvSpPr>
          <p:nvPr>
            <p:ph type="body" sz="quarter" idx="12"/>
          </p:nvPr>
        </p:nvSpPr>
        <p:spPr>
          <a:xfrm>
            <a:off x="825846" y="1183485"/>
            <a:ext cx="4275138" cy="477520"/>
          </a:xfrm>
        </p:spPr>
        <p:txBody>
          <a:bodyPr/>
          <a:lstStyle/>
          <a:p>
            <a:pPr marL="0" indent="0">
              <a:buNone/>
            </a:pPr>
            <a:r>
              <a:rPr lang="en-IN" dirty="0"/>
              <a:t>Rainfall Distribution</a:t>
            </a:r>
          </a:p>
        </p:txBody>
      </p:sp>
      <p:pic>
        <p:nvPicPr>
          <p:cNvPr id="9" name="Picture 8">
            <a:extLst>
              <a:ext uri="{FF2B5EF4-FFF2-40B4-BE49-F238E27FC236}">
                <a16:creationId xmlns:a16="http://schemas.microsoft.com/office/drawing/2014/main" id="{9AE0039B-EB49-5FFD-E001-A3382336C3BA}"/>
              </a:ext>
            </a:extLst>
          </p:cNvPr>
          <p:cNvPicPr>
            <a:picLocks noChangeAspect="1"/>
          </p:cNvPicPr>
          <p:nvPr/>
        </p:nvPicPr>
        <p:blipFill>
          <a:blip r:embed="rId3"/>
          <a:stretch>
            <a:fillRect/>
          </a:stretch>
        </p:blipFill>
        <p:spPr>
          <a:xfrm>
            <a:off x="825846" y="1608410"/>
            <a:ext cx="6283853" cy="3939881"/>
          </a:xfrm>
          <a:prstGeom prst="rect">
            <a:avLst/>
          </a:prstGeom>
        </p:spPr>
      </p:pic>
      <p:sp>
        <p:nvSpPr>
          <p:cNvPr id="13" name="TextBox 12">
            <a:extLst>
              <a:ext uri="{FF2B5EF4-FFF2-40B4-BE49-F238E27FC236}">
                <a16:creationId xmlns:a16="http://schemas.microsoft.com/office/drawing/2014/main" id="{5AEAAB49-4ED2-7CA1-DC2F-6689003A220D}"/>
              </a:ext>
            </a:extLst>
          </p:cNvPr>
          <p:cNvSpPr txBox="1"/>
          <p:nvPr/>
        </p:nvSpPr>
        <p:spPr>
          <a:xfrm>
            <a:off x="675957" y="5548291"/>
            <a:ext cx="8306678" cy="923330"/>
          </a:xfrm>
          <a:prstGeom prst="rect">
            <a:avLst/>
          </a:prstGeom>
          <a:noFill/>
        </p:spPr>
        <p:txBody>
          <a:bodyPr wrap="square">
            <a:spAutoFit/>
          </a:bodyPr>
          <a:lstStyle/>
          <a:p>
            <a:r>
              <a:rPr lang="en-IN" dirty="0"/>
              <a:t>Rainfall values show a broad distribution, with most observations concentrated approximately between 300 mm and 900 mm. Higher rainfall observations become less frequent toward the upper end of the distribution.</a:t>
            </a:r>
          </a:p>
        </p:txBody>
      </p:sp>
    </p:spTree>
    <p:extLst>
      <p:ext uri="{BB962C8B-B14F-4D97-AF65-F5344CB8AC3E}">
        <p14:creationId xmlns:p14="http://schemas.microsoft.com/office/powerpoint/2010/main" val="285233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A0C35-68AD-7E65-FFD2-DC1165F743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75B184B-943C-9957-D5C2-6CF133F1F5B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F59C6E-8B28-579A-FDB2-703086AA9CC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D005BBD-E5E8-75C5-0F04-79AE9EA27EB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D5FA893-3F29-50A8-4021-1E30529DDA6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250B36A-466A-CB41-5983-5B812B8A1C59}"/>
              </a:ext>
            </a:extLst>
          </p:cNvPr>
          <p:cNvSpPr>
            <a:spLocks noGrp="1"/>
          </p:cNvSpPr>
          <p:nvPr>
            <p:ph type="body" sz="quarter" idx="12"/>
          </p:nvPr>
        </p:nvSpPr>
        <p:spPr>
          <a:xfrm>
            <a:off x="825846" y="1183485"/>
            <a:ext cx="4275138" cy="477520"/>
          </a:xfrm>
        </p:spPr>
        <p:txBody>
          <a:bodyPr/>
          <a:lstStyle/>
          <a:p>
            <a:pPr marL="0" indent="0">
              <a:buNone/>
            </a:pPr>
            <a:r>
              <a:rPr lang="en-IN" dirty="0"/>
              <a:t>Crop Distribution Across Seasons</a:t>
            </a:r>
          </a:p>
        </p:txBody>
      </p:sp>
      <p:pic>
        <p:nvPicPr>
          <p:cNvPr id="3" name="Picture 2">
            <a:extLst>
              <a:ext uri="{FF2B5EF4-FFF2-40B4-BE49-F238E27FC236}">
                <a16:creationId xmlns:a16="http://schemas.microsoft.com/office/drawing/2014/main" id="{1A5CFF48-61F2-30DA-F5A2-A5A04C7BF236}"/>
              </a:ext>
            </a:extLst>
          </p:cNvPr>
          <p:cNvPicPr>
            <a:picLocks noChangeAspect="1"/>
          </p:cNvPicPr>
          <p:nvPr/>
        </p:nvPicPr>
        <p:blipFill>
          <a:blip r:embed="rId3"/>
          <a:stretch>
            <a:fillRect/>
          </a:stretch>
        </p:blipFill>
        <p:spPr>
          <a:xfrm>
            <a:off x="675957" y="1661005"/>
            <a:ext cx="6415061" cy="4826406"/>
          </a:xfrm>
          <a:prstGeom prst="rect">
            <a:avLst/>
          </a:prstGeom>
        </p:spPr>
      </p:pic>
      <p:sp>
        <p:nvSpPr>
          <p:cNvPr id="9" name="TextBox 8">
            <a:extLst>
              <a:ext uri="{FF2B5EF4-FFF2-40B4-BE49-F238E27FC236}">
                <a16:creationId xmlns:a16="http://schemas.microsoft.com/office/drawing/2014/main" id="{74158F81-4441-71D5-FE15-DC682CD80763}"/>
              </a:ext>
            </a:extLst>
          </p:cNvPr>
          <p:cNvSpPr txBox="1"/>
          <p:nvPr/>
        </p:nvSpPr>
        <p:spPr>
          <a:xfrm>
            <a:off x="7091018" y="1661005"/>
            <a:ext cx="2877671" cy="3139321"/>
          </a:xfrm>
          <a:prstGeom prst="rect">
            <a:avLst/>
          </a:prstGeom>
          <a:noFill/>
        </p:spPr>
        <p:txBody>
          <a:bodyPr wrap="square">
            <a:spAutoFit/>
          </a:bodyPr>
          <a:lstStyle/>
          <a:p>
            <a:r>
              <a:rPr lang="en-IN" dirty="0"/>
              <a:t>Crop distribution varies across seasons. Rice has the highest number of records in all three seasons, while Sugarcane has comparatively fewer records. The number of crop records is also substantially lower in Zaid than in Kharif and Rabi.</a:t>
            </a:r>
          </a:p>
        </p:txBody>
      </p:sp>
    </p:spTree>
    <p:extLst>
      <p:ext uri="{BB962C8B-B14F-4D97-AF65-F5344CB8AC3E}">
        <p14:creationId xmlns:p14="http://schemas.microsoft.com/office/powerpoint/2010/main" val="25175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ECAAE-7798-3221-6989-95D0D92DB74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1603A27-80B2-E563-A7A7-26FF537DC65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561060F-7C52-ADF3-5C25-14701F694E1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2E06B79-4A1C-2387-D279-BFF6DEDA9F7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2CED0D5-8807-96B6-7377-47BDD9A9500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AE0AE8-9237-D45F-5AF3-0A43801D0478}"/>
              </a:ext>
            </a:extLst>
          </p:cNvPr>
          <p:cNvSpPr>
            <a:spLocks noGrp="1"/>
          </p:cNvSpPr>
          <p:nvPr>
            <p:ph type="body" sz="quarter" idx="12"/>
          </p:nvPr>
        </p:nvSpPr>
        <p:spPr>
          <a:xfrm>
            <a:off x="825846" y="1183485"/>
            <a:ext cx="4275138" cy="477520"/>
          </a:xfrm>
        </p:spPr>
        <p:txBody>
          <a:bodyPr/>
          <a:lstStyle/>
          <a:p>
            <a:pPr marL="0" indent="0">
              <a:buNone/>
            </a:pPr>
            <a:r>
              <a:rPr lang="en-IN" dirty="0"/>
              <a:t>Rainfall vs Croop Yield</a:t>
            </a:r>
          </a:p>
        </p:txBody>
      </p:sp>
      <p:pic>
        <p:nvPicPr>
          <p:cNvPr id="3" name="Picture 2">
            <a:extLst>
              <a:ext uri="{FF2B5EF4-FFF2-40B4-BE49-F238E27FC236}">
                <a16:creationId xmlns:a16="http://schemas.microsoft.com/office/drawing/2014/main" id="{A8D0EF7A-0FBE-6C02-BF4C-0AB9882BE959}"/>
              </a:ext>
            </a:extLst>
          </p:cNvPr>
          <p:cNvPicPr>
            <a:picLocks noChangeAspect="1"/>
          </p:cNvPicPr>
          <p:nvPr/>
        </p:nvPicPr>
        <p:blipFill>
          <a:blip r:embed="rId3"/>
          <a:stretch>
            <a:fillRect/>
          </a:stretch>
        </p:blipFill>
        <p:spPr>
          <a:xfrm>
            <a:off x="825846" y="1608554"/>
            <a:ext cx="5534595" cy="5056406"/>
          </a:xfrm>
          <a:prstGeom prst="rect">
            <a:avLst/>
          </a:prstGeom>
        </p:spPr>
      </p:pic>
      <p:sp>
        <p:nvSpPr>
          <p:cNvPr id="11" name="TextBox 10">
            <a:extLst>
              <a:ext uri="{FF2B5EF4-FFF2-40B4-BE49-F238E27FC236}">
                <a16:creationId xmlns:a16="http://schemas.microsoft.com/office/drawing/2014/main" id="{9CCF3AE5-E178-54CE-8D46-179AE5DF7687}"/>
              </a:ext>
            </a:extLst>
          </p:cNvPr>
          <p:cNvSpPr txBox="1"/>
          <p:nvPr/>
        </p:nvSpPr>
        <p:spPr>
          <a:xfrm>
            <a:off x="6360440" y="2054230"/>
            <a:ext cx="3343561" cy="2585323"/>
          </a:xfrm>
          <a:prstGeom prst="rect">
            <a:avLst/>
          </a:prstGeom>
          <a:noFill/>
        </p:spPr>
        <p:txBody>
          <a:bodyPr wrap="square">
            <a:spAutoFit/>
          </a:bodyPr>
          <a:lstStyle/>
          <a:p>
            <a:r>
              <a:rPr lang="en-IN" dirty="0"/>
              <a:t>The scatter plot shows considerable variation in crop yield across rainfall levels and seasons. The relationship between rainfall and yield appears weak overall, which is consistent with the very low correlation between rainfall and yield (r ≈ 0.03).</a:t>
            </a:r>
          </a:p>
        </p:txBody>
      </p:sp>
    </p:spTree>
    <p:extLst>
      <p:ext uri="{BB962C8B-B14F-4D97-AF65-F5344CB8AC3E}">
        <p14:creationId xmlns:p14="http://schemas.microsoft.com/office/powerpoint/2010/main" val="15511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52899" y="1130890"/>
            <a:ext cx="6084405" cy="477520"/>
          </a:xfrm>
        </p:spPr>
        <p:txBody>
          <a:bodyPr>
            <a:noAutofit/>
          </a:bodyPr>
          <a:lstStyle/>
          <a:p>
            <a:pPr marL="0" indent="0">
              <a:buNone/>
            </a:pPr>
            <a:r>
              <a:rPr lang="en-IN" sz="1800" dirty="0"/>
              <a:t>Seasonal Production and Environmental Conditions</a:t>
            </a:r>
          </a:p>
        </p:txBody>
      </p:sp>
      <p:pic>
        <p:nvPicPr>
          <p:cNvPr id="3" name="Picture 2">
            <a:extLst>
              <a:ext uri="{FF2B5EF4-FFF2-40B4-BE49-F238E27FC236}">
                <a16:creationId xmlns:a16="http://schemas.microsoft.com/office/drawing/2014/main" id="{99DB7CEC-63A7-365D-130B-7570F3457535}"/>
              </a:ext>
            </a:extLst>
          </p:cNvPr>
          <p:cNvPicPr>
            <a:picLocks noChangeAspect="1"/>
          </p:cNvPicPr>
          <p:nvPr/>
        </p:nvPicPr>
        <p:blipFill>
          <a:blip r:embed="rId3"/>
          <a:stretch>
            <a:fillRect/>
          </a:stretch>
        </p:blipFill>
        <p:spPr>
          <a:xfrm>
            <a:off x="733254" y="1608410"/>
            <a:ext cx="5464013" cy="4854361"/>
          </a:xfrm>
          <a:prstGeom prst="rect">
            <a:avLst/>
          </a:prstGeom>
        </p:spPr>
      </p:pic>
      <p:graphicFrame>
        <p:nvGraphicFramePr>
          <p:cNvPr id="6" name="Table 5">
            <a:extLst>
              <a:ext uri="{FF2B5EF4-FFF2-40B4-BE49-F238E27FC236}">
                <a16:creationId xmlns:a16="http://schemas.microsoft.com/office/drawing/2014/main" id="{1B5908F6-F97F-359D-798C-406243630420}"/>
              </a:ext>
            </a:extLst>
          </p:cNvPr>
          <p:cNvGraphicFramePr>
            <a:graphicFrameLocks noGrp="1"/>
          </p:cNvGraphicFramePr>
          <p:nvPr>
            <p:extLst>
              <p:ext uri="{D42A27DB-BD31-4B8C-83A1-F6EECF244321}">
                <p14:modId xmlns:p14="http://schemas.microsoft.com/office/powerpoint/2010/main" val="2450149693"/>
              </p:ext>
            </p:extLst>
          </p:nvPr>
        </p:nvGraphicFramePr>
        <p:xfrm>
          <a:off x="6277623" y="3184463"/>
          <a:ext cx="4929561" cy="1737360"/>
        </p:xfrm>
        <a:graphic>
          <a:graphicData uri="http://schemas.openxmlformats.org/drawingml/2006/table">
            <a:tbl>
              <a:tblPr>
                <a:tableStyleId>{6E25E649-3F16-4E02-A733-19D2CDBF48F0}</a:tableStyleId>
              </a:tblPr>
              <a:tblGrid>
                <a:gridCol w="1643187">
                  <a:extLst>
                    <a:ext uri="{9D8B030D-6E8A-4147-A177-3AD203B41FA5}">
                      <a16:colId xmlns:a16="http://schemas.microsoft.com/office/drawing/2014/main" val="2571863303"/>
                    </a:ext>
                  </a:extLst>
                </a:gridCol>
                <a:gridCol w="1643187">
                  <a:extLst>
                    <a:ext uri="{9D8B030D-6E8A-4147-A177-3AD203B41FA5}">
                      <a16:colId xmlns:a16="http://schemas.microsoft.com/office/drawing/2014/main" val="751466129"/>
                    </a:ext>
                  </a:extLst>
                </a:gridCol>
                <a:gridCol w="1643187">
                  <a:extLst>
                    <a:ext uri="{9D8B030D-6E8A-4147-A177-3AD203B41FA5}">
                      <a16:colId xmlns:a16="http://schemas.microsoft.com/office/drawing/2014/main" val="3591599196"/>
                    </a:ext>
                  </a:extLst>
                </a:gridCol>
              </a:tblGrid>
              <a:tr h="0">
                <a:tc>
                  <a:txBody>
                    <a:bodyPr/>
                    <a:lstStyle/>
                    <a:p>
                      <a:pPr>
                        <a:buNone/>
                      </a:pPr>
                      <a:r>
                        <a:rPr lang="en-IN"/>
                        <a:t>Season</a:t>
                      </a:r>
                    </a:p>
                  </a:txBody>
                  <a:tcPr anchor="ctr"/>
                </a:tc>
                <a:tc>
                  <a:txBody>
                    <a:bodyPr/>
                    <a:lstStyle/>
                    <a:p>
                      <a:pPr algn="r">
                        <a:buNone/>
                      </a:pPr>
                      <a:r>
                        <a:rPr lang="en-IN"/>
                        <a:t>Avg Rainfall</a:t>
                      </a:r>
                    </a:p>
                  </a:txBody>
                  <a:tcPr anchor="ctr"/>
                </a:tc>
                <a:tc>
                  <a:txBody>
                    <a:bodyPr/>
                    <a:lstStyle/>
                    <a:p>
                      <a:pPr algn="r">
                        <a:buNone/>
                      </a:pPr>
                      <a:r>
                        <a:rPr lang="en-IN"/>
                        <a:t>Avg Temperature</a:t>
                      </a:r>
                    </a:p>
                  </a:txBody>
                  <a:tcPr anchor="ctr"/>
                </a:tc>
                <a:extLst>
                  <a:ext uri="{0D108BD9-81ED-4DB2-BD59-A6C34878D82A}">
                    <a16:rowId xmlns:a16="http://schemas.microsoft.com/office/drawing/2014/main" val="4008682518"/>
                  </a:ext>
                </a:extLst>
              </a:tr>
              <a:tr h="0">
                <a:tc>
                  <a:txBody>
                    <a:bodyPr/>
                    <a:lstStyle/>
                    <a:p>
                      <a:pPr>
                        <a:buNone/>
                      </a:pPr>
                      <a:r>
                        <a:rPr lang="en-IN"/>
                        <a:t>Kharif</a:t>
                      </a:r>
                    </a:p>
                  </a:txBody>
                  <a:tcPr anchor="ctr"/>
                </a:tc>
                <a:tc>
                  <a:txBody>
                    <a:bodyPr/>
                    <a:lstStyle/>
                    <a:p>
                      <a:pPr algn="r">
                        <a:buNone/>
                      </a:pPr>
                      <a:r>
                        <a:rPr lang="en-IN" dirty="0"/>
                        <a:t>852.11 mm</a:t>
                      </a:r>
                    </a:p>
                  </a:txBody>
                  <a:tcPr anchor="ctr"/>
                </a:tc>
                <a:tc>
                  <a:txBody>
                    <a:bodyPr/>
                    <a:lstStyle/>
                    <a:p>
                      <a:pPr algn="r">
                        <a:buNone/>
                      </a:pPr>
                      <a:r>
                        <a:rPr lang="en-IN"/>
                        <a:t>28.45°C</a:t>
                      </a:r>
                    </a:p>
                  </a:txBody>
                  <a:tcPr anchor="ctr"/>
                </a:tc>
                <a:extLst>
                  <a:ext uri="{0D108BD9-81ED-4DB2-BD59-A6C34878D82A}">
                    <a16:rowId xmlns:a16="http://schemas.microsoft.com/office/drawing/2014/main" val="2898907559"/>
                  </a:ext>
                </a:extLst>
              </a:tr>
              <a:tr h="0">
                <a:tc>
                  <a:txBody>
                    <a:bodyPr/>
                    <a:lstStyle/>
                    <a:p>
                      <a:pPr>
                        <a:buNone/>
                      </a:pPr>
                      <a:r>
                        <a:rPr lang="en-IN"/>
                        <a:t>Rabi</a:t>
                      </a:r>
                    </a:p>
                  </a:txBody>
                  <a:tcPr anchor="ctr"/>
                </a:tc>
                <a:tc>
                  <a:txBody>
                    <a:bodyPr/>
                    <a:lstStyle/>
                    <a:p>
                      <a:pPr algn="r">
                        <a:buNone/>
                      </a:pPr>
                      <a:r>
                        <a:rPr lang="en-IN"/>
                        <a:t>435.94 mm</a:t>
                      </a:r>
                    </a:p>
                  </a:txBody>
                  <a:tcPr anchor="ctr"/>
                </a:tc>
                <a:tc>
                  <a:txBody>
                    <a:bodyPr/>
                    <a:lstStyle/>
                    <a:p>
                      <a:pPr algn="r">
                        <a:buNone/>
                      </a:pPr>
                      <a:r>
                        <a:rPr lang="en-IN"/>
                        <a:t>23.49°C</a:t>
                      </a:r>
                    </a:p>
                  </a:txBody>
                  <a:tcPr anchor="ctr"/>
                </a:tc>
                <a:extLst>
                  <a:ext uri="{0D108BD9-81ED-4DB2-BD59-A6C34878D82A}">
                    <a16:rowId xmlns:a16="http://schemas.microsoft.com/office/drawing/2014/main" val="4166329834"/>
                  </a:ext>
                </a:extLst>
              </a:tr>
              <a:tr h="0">
                <a:tc>
                  <a:txBody>
                    <a:bodyPr/>
                    <a:lstStyle/>
                    <a:p>
                      <a:pPr>
                        <a:buNone/>
                      </a:pPr>
                      <a:r>
                        <a:rPr lang="en-IN"/>
                        <a:t>Zaid</a:t>
                      </a:r>
                    </a:p>
                  </a:txBody>
                  <a:tcPr anchor="ctr"/>
                </a:tc>
                <a:tc>
                  <a:txBody>
                    <a:bodyPr/>
                    <a:lstStyle/>
                    <a:p>
                      <a:pPr algn="r">
                        <a:buNone/>
                      </a:pPr>
                      <a:r>
                        <a:rPr lang="en-IN"/>
                        <a:t>299.12 mm</a:t>
                      </a:r>
                    </a:p>
                  </a:txBody>
                  <a:tcPr anchor="ctr"/>
                </a:tc>
                <a:tc>
                  <a:txBody>
                    <a:bodyPr/>
                    <a:lstStyle/>
                    <a:p>
                      <a:pPr algn="r">
                        <a:buNone/>
                      </a:pPr>
                      <a:r>
                        <a:rPr lang="en-IN" dirty="0"/>
                        <a:t>31.04°C</a:t>
                      </a:r>
                    </a:p>
                  </a:txBody>
                  <a:tcPr anchor="ctr"/>
                </a:tc>
                <a:extLst>
                  <a:ext uri="{0D108BD9-81ED-4DB2-BD59-A6C34878D82A}">
                    <a16:rowId xmlns:a16="http://schemas.microsoft.com/office/drawing/2014/main" val="1868909873"/>
                  </a:ext>
                </a:extLst>
              </a:tr>
            </a:tbl>
          </a:graphicData>
        </a:graphic>
      </p:graphicFrame>
      <p:graphicFrame>
        <p:nvGraphicFramePr>
          <p:cNvPr id="9" name="Table 8">
            <a:extLst>
              <a:ext uri="{FF2B5EF4-FFF2-40B4-BE49-F238E27FC236}">
                <a16:creationId xmlns:a16="http://schemas.microsoft.com/office/drawing/2014/main" id="{76FB832D-ACC7-3C8E-EAD8-0B228B6B22DA}"/>
              </a:ext>
            </a:extLst>
          </p:cNvPr>
          <p:cNvGraphicFramePr>
            <a:graphicFrameLocks noGrp="1"/>
          </p:cNvGraphicFramePr>
          <p:nvPr>
            <p:extLst>
              <p:ext uri="{D42A27DB-BD31-4B8C-83A1-F6EECF244321}">
                <p14:modId xmlns:p14="http://schemas.microsoft.com/office/powerpoint/2010/main" val="3142711631"/>
              </p:ext>
            </p:extLst>
          </p:nvPr>
        </p:nvGraphicFramePr>
        <p:xfrm>
          <a:off x="6277622" y="1277815"/>
          <a:ext cx="4929562" cy="1737360"/>
        </p:xfrm>
        <a:graphic>
          <a:graphicData uri="http://schemas.openxmlformats.org/drawingml/2006/table">
            <a:tbl>
              <a:tblPr>
                <a:tableStyleId>{6E25E649-3F16-4E02-A733-19D2CDBF48F0}</a:tableStyleId>
              </a:tblPr>
              <a:tblGrid>
                <a:gridCol w="2464781">
                  <a:extLst>
                    <a:ext uri="{9D8B030D-6E8A-4147-A177-3AD203B41FA5}">
                      <a16:colId xmlns:a16="http://schemas.microsoft.com/office/drawing/2014/main" val="301575659"/>
                    </a:ext>
                  </a:extLst>
                </a:gridCol>
                <a:gridCol w="2464781">
                  <a:extLst>
                    <a:ext uri="{9D8B030D-6E8A-4147-A177-3AD203B41FA5}">
                      <a16:colId xmlns:a16="http://schemas.microsoft.com/office/drawing/2014/main" val="1871919465"/>
                    </a:ext>
                  </a:extLst>
                </a:gridCol>
              </a:tblGrid>
              <a:tr h="0">
                <a:tc>
                  <a:txBody>
                    <a:bodyPr/>
                    <a:lstStyle/>
                    <a:p>
                      <a:pPr>
                        <a:buNone/>
                      </a:pPr>
                      <a:r>
                        <a:rPr lang="en-IN" dirty="0"/>
                        <a:t>Season</a:t>
                      </a:r>
                    </a:p>
                  </a:txBody>
                  <a:tcPr anchor="ctr"/>
                </a:tc>
                <a:tc>
                  <a:txBody>
                    <a:bodyPr/>
                    <a:lstStyle/>
                    <a:p>
                      <a:pPr algn="r">
                        <a:buNone/>
                      </a:pPr>
                      <a:r>
                        <a:rPr lang="en-IN"/>
                        <a:t>Total Production (Tonnes)</a:t>
                      </a:r>
                    </a:p>
                  </a:txBody>
                  <a:tcPr anchor="ctr"/>
                </a:tc>
                <a:extLst>
                  <a:ext uri="{0D108BD9-81ED-4DB2-BD59-A6C34878D82A}">
                    <a16:rowId xmlns:a16="http://schemas.microsoft.com/office/drawing/2014/main" val="3914939623"/>
                  </a:ext>
                </a:extLst>
              </a:tr>
              <a:tr h="0">
                <a:tc>
                  <a:txBody>
                    <a:bodyPr/>
                    <a:lstStyle/>
                    <a:p>
                      <a:pPr>
                        <a:buNone/>
                      </a:pPr>
                      <a:r>
                        <a:rPr lang="en-IN"/>
                        <a:t>Kharif</a:t>
                      </a:r>
                    </a:p>
                  </a:txBody>
                  <a:tcPr anchor="ctr"/>
                </a:tc>
                <a:tc>
                  <a:txBody>
                    <a:bodyPr/>
                    <a:lstStyle/>
                    <a:p>
                      <a:pPr algn="r">
                        <a:buNone/>
                      </a:pPr>
                      <a:r>
                        <a:rPr lang="en-IN"/>
                        <a:t>82,387.61</a:t>
                      </a:r>
                    </a:p>
                  </a:txBody>
                  <a:tcPr anchor="ctr"/>
                </a:tc>
                <a:extLst>
                  <a:ext uri="{0D108BD9-81ED-4DB2-BD59-A6C34878D82A}">
                    <a16:rowId xmlns:a16="http://schemas.microsoft.com/office/drawing/2014/main" val="1425102043"/>
                  </a:ext>
                </a:extLst>
              </a:tr>
              <a:tr h="0">
                <a:tc>
                  <a:txBody>
                    <a:bodyPr/>
                    <a:lstStyle/>
                    <a:p>
                      <a:pPr>
                        <a:buNone/>
                      </a:pPr>
                      <a:r>
                        <a:rPr lang="en-IN"/>
                        <a:t>Rabi</a:t>
                      </a:r>
                    </a:p>
                  </a:txBody>
                  <a:tcPr anchor="ctr"/>
                </a:tc>
                <a:tc>
                  <a:txBody>
                    <a:bodyPr/>
                    <a:lstStyle/>
                    <a:p>
                      <a:pPr algn="r">
                        <a:buNone/>
                      </a:pPr>
                      <a:r>
                        <a:rPr lang="en-IN"/>
                        <a:t>67,498.88</a:t>
                      </a:r>
                    </a:p>
                  </a:txBody>
                  <a:tcPr anchor="ctr"/>
                </a:tc>
                <a:extLst>
                  <a:ext uri="{0D108BD9-81ED-4DB2-BD59-A6C34878D82A}">
                    <a16:rowId xmlns:a16="http://schemas.microsoft.com/office/drawing/2014/main" val="818042467"/>
                  </a:ext>
                </a:extLst>
              </a:tr>
              <a:tr h="0">
                <a:tc>
                  <a:txBody>
                    <a:bodyPr/>
                    <a:lstStyle/>
                    <a:p>
                      <a:pPr>
                        <a:buNone/>
                      </a:pPr>
                      <a:r>
                        <a:rPr lang="en-IN"/>
                        <a:t>Zaid</a:t>
                      </a:r>
                    </a:p>
                  </a:txBody>
                  <a:tcPr anchor="ctr"/>
                </a:tc>
                <a:tc>
                  <a:txBody>
                    <a:bodyPr/>
                    <a:lstStyle/>
                    <a:p>
                      <a:pPr algn="r">
                        <a:buNone/>
                      </a:pPr>
                      <a:r>
                        <a:rPr lang="en-IN" dirty="0"/>
                        <a:t>23,098.35</a:t>
                      </a:r>
                    </a:p>
                  </a:txBody>
                  <a:tcPr anchor="ctr"/>
                </a:tc>
                <a:extLst>
                  <a:ext uri="{0D108BD9-81ED-4DB2-BD59-A6C34878D82A}">
                    <a16:rowId xmlns:a16="http://schemas.microsoft.com/office/drawing/2014/main" val="2318008232"/>
                  </a:ext>
                </a:extLst>
              </a:tr>
            </a:tbl>
          </a:graphicData>
        </a:graphic>
      </p:graphicFrame>
      <p:sp>
        <p:nvSpPr>
          <p:cNvPr id="11" name="TextBox 10">
            <a:extLst>
              <a:ext uri="{FF2B5EF4-FFF2-40B4-BE49-F238E27FC236}">
                <a16:creationId xmlns:a16="http://schemas.microsoft.com/office/drawing/2014/main" id="{5F306581-CE66-EEE1-4C73-485EA682D87C}"/>
              </a:ext>
            </a:extLst>
          </p:cNvPr>
          <p:cNvSpPr txBox="1"/>
          <p:nvPr/>
        </p:nvSpPr>
        <p:spPr>
          <a:xfrm>
            <a:off x="6277622" y="5091112"/>
            <a:ext cx="3094978" cy="1477328"/>
          </a:xfrm>
          <a:prstGeom prst="rect">
            <a:avLst/>
          </a:prstGeom>
          <a:noFill/>
        </p:spPr>
        <p:txBody>
          <a:bodyPr wrap="square" rtlCol="0">
            <a:spAutoFit/>
          </a:bodyPr>
          <a:lstStyle/>
          <a:p>
            <a:r>
              <a:rPr lang="en-IN" dirty="0"/>
              <a:t>Kharif showed the highest total production and also had the highest average rainfall among the three seasons.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81513" y="1130890"/>
            <a:ext cx="4275138" cy="477520"/>
          </a:xfrm>
        </p:spPr>
        <p:txBody>
          <a:bodyPr/>
          <a:lstStyle/>
          <a:p>
            <a:pPr marL="0" indent="0">
              <a:buNone/>
            </a:pPr>
            <a:r>
              <a:rPr lang="en-IN" dirty="0"/>
              <a:t>Crop Performance and Profitability</a:t>
            </a:r>
          </a:p>
        </p:txBody>
      </p:sp>
      <p:pic>
        <p:nvPicPr>
          <p:cNvPr id="3" name="Picture 2">
            <a:extLst>
              <a:ext uri="{FF2B5EF4-FFF2-40B4-BE49-F238E27FC236}">
                <a16:creationId xmlns:a16="http://schemas.microsoft.com/office/drawing/2014/main" id="{25FFAAEA-F5BE-6DBB-EB6B-19ADABB50E9B}"/>
              </a:ext>
            </a:extLst>
          </p:cNvPr>
          <p:cNvPicPr>
            <a:picLocks noChangeAspect="1"/>
          </p:cNvPicPr>
          <p:nvPr/>
        </p:nvPicPr>
        <p:blipFill>
          <a:blip r:embed="rId3"/>
          <a:stretch>
            <a:fillRect/>
          </a:stretch>
        </p:blipFill>
        <p:spPr>
          <a:xfrm>
            <a:off x="675957" y="1576241"/>
            <a:ext cx="5154806" cy="5088719"/>
          </a:xfrm>
          <a:prstGeom prst="rect">
            <a:avLst/>
          </a:prstGeom>
        </p:spPr>
      </p:pic>
      <p:sp>
        <p:nvSpPr>
          <p:cNvPr id="6" name="TextBox 5">
            <a:extLst>
              <a:ext uri="{FF2B5EF4-FFF2-40B4-BE49-F238E27FC236}">
                <a16:creationId xmlns:a16="http://schemas.microsoft.com/office/drawing/2014/main" id="{BDA46D63-4F33-B796-0596-ABD170D4DD69}"/>
              </a:ext>
            </a:extLst>
          </p:cNvPr>
          <p:cNvSpPr txBox="1"/>
          <p:nvPr/>
        </p:nvSpPr>
        <p:spPr>
          <a:xfrm>
            <a:off x="5830763" y="2085930"/>
            <a:ext cx="3343560" cy="2031325"/>
          </a:xfrm>
          <a:prstGeom prst="rect">
            <a:avLst/>
          </a:prstGeom>
          <a:noFill/>
        </p:spPr>
        <p:txBody>
          <a:bodyPr wrap="square" rtlCol="0">
            <a:spAutoFit/>
          </a:bodyPr>
          <a:lstStyle/>
          <a:p>
            <a:r>
              <a:rPr lang="en-IN" dirty="0"/>
              <a:t>Crop performance varies considerably across seasons. Sugarcane stands out for its high average yield, while Sugarcane and Chilli show comparatively strong profitability.</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7008103" y="255573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68697" y="1201586"/>
            <a:ext cx="4275138" cy="477520"/>
          </a:xfrm>
        </p:spPr>
        <p:txBody>
          <a:bodyPr/>
          <a:lstStyle/>
          <a:p>
            <a:pPr marL="0" indent="0">
              <a:buNone/>
            </a:pPr>
            <a:r>
              <a:rPr lang="en-IN" dirty="0"/>
              <a:t>Irrigation Performance</a:t>
            </a:r>
          </a:p>
        </p:txBody>
      </p:sp>
      <p:pic>
        <p:nvPicPr>
          <p:cNvPr id="3" name="Picture 2">
            <a:extLst>
              <a:ext uri="{FF2B5EF4-FFF2-40B4-BE49-F238E27FC236}">
                <a16:creationId xmlns:a16="http://schemas.microsoft.com/office/drawing/2014/main" id="{81E8FCB8-BC00-AD32-9CD8-8742E35BB444}"/>
              </a:ext>
            </a:extLst>
          </p:cNvPr>
          <p:cNvPicPr>
            <a:picLocks noChangeAspect="1"/>
          </p:cNvPicPr>
          <p:nvPr/>
        </p:nvPicPr>
        <p:blipFill>
          <a:blip r:embed="rId3"/>
          <a:stretch>
            <a:fillRect/>
          </a:stretch>
        </p:blipFill>
        <p:spPr>
          <a:xfrm>
            <a:off x="668697" y="1611658"/>
            <a:ext cx="5671757" cy="4915326"/>
          </a:xfrm>
          <a:prstGeom prst="rect">
            <a:avLst/>
          </a:prstGeom>
        </p:spPr>
      </p:pic>
      <p:pic>
        <p:nvPicPr>
          <p:cNvPr id="9" name="Picture 8">
            <a:extLst>
              <a:ext uri="{FF2B5EF4-FFF2-40B4-BE49-F238E27FC236}">
                <a16:creationId xmlns:a16="http://schemas.microsoft.com/office/drawing/2014/main" id="{72616E32-E242-6A70-93EE-20FFBF3606FA}"/>
              </a:ext>
            </a:extLst>
          </p:cNvPr>
          <p:cNvPicPr>
            <a:picLocks noChangeAspect="1"/>
          </p:cNvPicPr>
          <p:nvPr/>
        </p:nvPicPr>
        <p:blipFill>
          <a:blip r:embed="rId4"/>
          <a:stretch>
            <a:fillRect/>
          </a:stretch>
        </p:blipFill>
        <p:spPr>
          <a:xfrm>
            <a:off x="6470832" y="1608410"/>
            <a:ext cx="3466544" cy="3318401"/>
          </a:xfrm>
          <a:prstGeom prst="rect">
            <a:avLst/>
          </a:prstGeom>
        </p:spPr>
      </p:pic>
      <p:sp>
        <p:nvSpPr>
          <p:cNvPr id="11" name="TextBox 10">
            <a:extLst>
              <a:ext uri="{FF2B5EF4-FFF2-40B4-BE49-F238E27FC236}">
                <a16:creationId xmlns:a16="http://schemas.microsoft.com/office/drawing/2014/main" id="{0E7468F7-9063-4209-0A4C-4F04DFD18F52}"/>
              </a:ext>
            </a:extLst>
          </p:cNvPr>
          <p:cNvSpPr txBox="1"/>
          <p:nvPr/>
        </p:nvSpPr>
        <p:spPr>
          <a:xfrm>
            <a:off x="3319805" y="1227643"/>
            <a:ext cx="1890261" cy="369332"/>
          </a:xfrm>
          <a:prstGeom prst="rect">
            <a:avLst/>
          </a:prstGeom>
          <a:noFill/>
        </p:spPr>
        <p:txBody>
          <a:bodyPr wrap="none" rtlCol="0">
            <a:spAutoFit/>
          </a:bodyPr>
          <a:lstStyle/>
          <a:p>
            <a:r>
              <a:rPr lang="en-IN" dirty="0"/>
              <a:t>Water efficiency</a:t>
            </a:r>
          </a:p>
        </p:txBody>
      </p:sp>
      <p:sp>
        <p:nvSpPr>
          <p:cNvPr id="12" name="TextBox 11">
            <a:extLst>
              <a:ext uri="{FF2B5EF4-FFF2-40B4-BE49-F238E27FC236}">
                <a16:creationId xmlns:a16="http://schemas.microsoft.com/office/drawing/2014/main" id="{CEBBD126-CF72-A4A3-C36C-ACD46C898FC0}"/>
              </a:ext>
            </a:extLst>
          </p:cNvPr>
          <p:cNvSpPr txBox="1"/>
          <p:nvPr/>
        </p:nvSpPr>
        <p:spPr>
          <a:xfrm>
            <a:off x="6470832" y="5095300"/>
            <a:ext cx="3466544" cy="1569660"/>
          </a:xfrm>
          <a:prstGeom prst="rect">
            <a:avLst/>
          </a:prstGeom>
          <a:noFill/>
        </p:spPr>
        <p:txBody>
          <a:bodyPr wrap="square" rtlCol="0">
            <a:spAutoFit/>
          </a:bodyPr>
          <a:lstStyle/>
          <a:p>
            <a:r>
              <a:rPr lang="en-IN" sz="1600" dirty="0"/>
              <a:t>Irrigation performance varies across seasons. Kharif Drip irrigation showed comparatively high average yield and profit, while Kharif also recorded the highest average water efficiency.</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F6FBB6F-F804-6D75-7229-4048C30F9D3A}"/>
              </a:ext>
            </a:extLst>
          </p:cNvPr>
          <p:cNvPicPr>
            <a:picLocks noChangeAspect="1"/>
          </p:cNvPicPr>
          <p:nvPr/>
        </p:nvPicPr>
        <p:blipFill>
          <a:blip r:embed="rId3"/>
          <a:stretch>
            <a:fillRect/>
          </a:stretch>
        </p:blipFill>
        <p:spPr>
          <a:xfrm>
            <a:off x="675956" y="1201586"/>
            <a:ext cx="6007231" cy="5624047"/>
          </a:xfrm>
          <a:prstGeom prst="rect">
            <a:avLst/>
          </a:prstGeom>
        </p:spPr>
      </p:pic>
      <p:sp>
        <p:nvSpPr>
          <p:cNvPr id="6" name="TextBox 5">
            <a:extLst>
              <a:ext uri="{FF2B5EF4-FFF2-40B4-BE49-F238E27FC236}">
                <a16:creationId xmlns:a16="http://schemas.microsoft.com/office/drawing/2014/main" id="{9F4A6A68-4B6D-44D5-834B-C460447B85C5}"/>
              </a:ext>
            </a:extLst>
          </p:cNvPr>
          <p:cNvSpPr txBox="1"/>
          <p:nvPr/>
        </p:nvSpPr>
        <p:spPr>
          <a:xfrm>
            <a:off x="6683187" y="1301121"/>
            <a:ext cx="3919663" cy="369332"/>
          </a:xfrm>
          <a:prstGeom prst="rect">
            <a:avLst/>
          </a:prstGeom>
          <a:noFill/>
        </p:spPr>
        <p:txBody>
          <a:bodyPr wrap="none" rtlCol="0">
            <a:spAutoFit/>
          </a:bodyPr>
          <a:lstStyle/>
          <a:p>
            <a:r>
              <a:rPr lang="en-IN" dirty="0"/>
              <a:t>Relationships and Regional Variation</a:t>
            </a:r>
          </a:p>
        </p:txBody>
      </p:sp>
      <p:sp>
        <p:nvSpPr>
          <p:cNvPr id="11" name="TextBox 10">
            <a:extLst>
              <a:ext uri="{FF2B5EF4-FFF2-40B4-BE49-F238E27FC236}">
                <a16:creationId xmlns:a16="http://schemas.microsoft.com/office/drawing/2014/main" id="{10E74470-33DC-E2EE-EDC1-FEFB84DCD740}"/>
              </a:ext>
            </a:extLst>
          </p:cNvPr>
          <p:cNvSpPr txBox="1"/>
          <p:nvPr/>
        </p:nvSpPr>
        <p:spPr>
          <a:xfrm>
            <a:off x="6917137" y="2015234"/>
            <a:ext cx="2885768" cy="2031325"/>
          </a:xfrm>
          <a:prstGeom prst="rect">
            <a:avLst/>
          </a:prstGeom>
          <a:noFill/>
        </p:spPr>
        <p:txBody>
          <a:bodyPr wrap="square" rtlCol="0">
            <a:spAutoFit/>
          </a:bodyPr>
          <a:lstStyle/>
          <a:p>
            <a:r>
              <a:rPr lang="en-IN" dirty="0"/>
              <a:t>Agricultural performance also varied across regions, indicating that seasonal results should be considered together with location and crop type.</a:t>
            </a:r>
          </a:p>
          <a:p>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6321865" cy="3269736"/>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457200" lvl="0" indent="-457200" algn="l">
              <a:buFont typeface="+mj-lt"/>
              <a:buAutoNum type="arabicPeriod"/>
            </a:pPr>
            <a:r>
              <a:rPr lang="en-IN" sz="2000" dirty="0"/>
              <a:t>Add more years of agricultural data. </a:t>
            </a:r>
          </a:p>
          <a:p>
            <a:pPr marL="457200" lvl="0" indent="-457200" algn="l">
              <a:buFont typeface="+mj-lt"/>
              <a:buAutoNum type="arabicPeriod"/>
            </a:pPr>
            <a:r>
              <a:rPr lang="en-IN" sz="2000" dirty="0"/>
              <a:t>Include market price and weather forecasts. </a:t>
            </a:r>
          </a:p>
          <a:p>
            <a:pPr marL="457200" lvl="0" indent="-457200" algn="l">
              <a:buFont typeface="+mj-lt"/>
              <a:buAutoNum type="arabicPeriod"/>
            </a:pPr>
            <a:r>
              <a:rPr lang="en-IN" sz="2000" dirty="0"/>
              <a:t>Build an interactive dashboard using Power BI or another visualization tool. </a:t>
            </a:r>
          </a:p>
          <a:p>
            <a:pPr marL="457200" lvl="0" indent="-457200" algn="l">
              <a:buFont typeface="+mj-lt"/>
              <a:buAutoNum type="arabicPeriod"/>
            </a:pPr>
            <a:r>
              <a:rPr lang="en-IN" sz="2000" dirty="0"/>
              <a:t>Develop predictive models for yield and profitability. </a:t>
            </a:r>
          </a:p>
          <a:p>
            <a:pPr marL="457200" lvl="0" indent="-457200" algn="l">
              <a:buFont typeface="+mj-lt"/>
              <a:buAutoNum type="arabicPeriod"/>
            </a:pPr>
            <a:r>
              <a:rPr lang="en-IN" sz="2000" dirty="0" err="1"/>
              <a:t>Analyze</a:t>
            </a:r>
            <a:r>
              <a:rPr lang="en-IN" sz="2000" dirty="0"/>
              <a:t> individual crops and regions in greater detail.</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F284A98-DC7E-A5DB-9244-1A37E2F13F2E}"/>
              </a:ext>
            </a:extLst>
          </p:cNvPr>
          <p:cNvSpPr txBox="1"/>
          <p:nvPr/>
        </p:nvSpPr>
        <p:spPr>
          <a:xfrm>
            <a:off x="2819082" y="1553569"/>
            <a:ext cx="4227177" cy="923330"/>
          </a:xfrm>
          <a:prstGeom prst="rect">
            <a:avLst/>
          </a:prstGeom>
          <a:noFill/>
        </p:spPr>
        <p:txBody>
          <a:bodyPr wrap="square" rtlCol="0">
            <a:spAutoFit/>
          </a:bodyPr>
          <a:lstStyle/>
          <a:p>
            <a:r>
              <a:rPr lang="en-IN" dirty="0">
                <a:hlinkClick r:id="rId3"/>
              </a:rPr>
              <a:t>https://github.com/Ayush-0021/seasonal-agriculture-performance-analysis.git</a:t>
            </a:r>
            <a:endParaRPr lang="en-IN" dirty="0"/>
          </a:p>
        </p:txBody>
      </p:sp>
      <p:sp>
        <p:nvSpPr>
          <p:cNvPr id="3" name="TextBox 2">
            <a:extLst>
              <a:ext uri="{FF2B5EF4-FFF2-40B4-BE49-F238E27FC236}">
                <a16:creationId xmlns:a16="http://schemas.microsoft.com/office/drawing/2014/main" id="{CE3FDEF5-2A5D-D0D7-C3DD-4C82B4FC175C}"/>
              </a:ext>
            </a:extLst>
          </p:cNvPr>
          <p:cNvSpPr txBox="1"/>
          <p:nvPr/>
        </p:nvSpPr>
        <p:spPr>
          <a:xfrm>
            <a:off x="766661" y="1618283"/>
            <a:ext cx="2052421" cy="369332"/>
          </a:xfrm>
          <a:prstGeom prst="rect">
            <a:avLst/>
          </a:prstGeom>
          <a:noFill/>
        </p:spPr>
        <p:txBody>
          <a:bodyPr wrap="none" rtlCol="0">
            <a:spAutoFit/>
          </a:bodyPr>
          <a:lstStyle/>
          <a:p>
            <a:r>
              <a:rPr lang="en-IN" dirty="0"/>
              <a:t>GitHub Repository</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DD32E8C-0DD9-1477-E069-4ABFF6AEF270}"/>
              </a:ext>
            </a:extLst>
          </p:cNvPr>
          <p:cNvPicPr>
            <a:picLocks noChangeAspect="1"/>
          </p:cNvPicPr>
          <p:nvPr/>
        </p:nvPicPr>
        <p:blipFill>
          <a:blip r:embed="rId3"/>
          <a:stretch>
            <a:fillRect/>
          </a:stretch>
        </p:blipFill>
        <p:spPr>
          <a:xfrm>
            <a:off x="756363" y="1427043"/>
            <a:ext cx="7178662" cy="504487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782906" y="1573247"/>
            <a:ext cx="6626187" cy="1108634"/>
          </a:xfrm>
        </p:spPr>
        <p:txBody>
          <a:bodyPr>
            <a:noAutofit/>
          </a:bodyPr>
          <a:lstStyle/>
          <a:p>
            <a:r>
              <a:rPr lang="en-IN" dirty="0"/>
              <a:t>Seasonal Agriculture Performance </a:t>
            </a:r>
            <a:br>
              <a:rPr lang="en-IN" dirty="0"/>
            </a:br>
            <a:r>
              <a:rPr lang="en-IN" dirty="0"/>
              <a:t>Analysis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1420</TotalTime>
  <Words>631</Words>
  <Application>Microsoft Office PowerPoint</Application>
  <PresentationFormat>Widescreen</PresentationFormat>
  <Paragraphs>95</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Ayush Kumar</cp:lastModifiedBy>
  <cp:revision>100</cp:revision>
  <dcterms:created xsi:type="dcterms:W3CDTF">2021-07-11T13:13:15Z</dcterms:created>
  <dcterms:modified xsi:type="dcterms:W3CDTF">2026-09-09T22:48:37Z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